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AC82F-5A9E-44E4-8B23-57B11012B48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4B925-1E9A-4DB1-A58F-0C53D774C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18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4B925-1E9A-4DB1-A58F-0C53D774C7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39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43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0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58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03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47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73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9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335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2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70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278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090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09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708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147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0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otec.com/request/datasheet/2n2222a.pdf" TargetMode="External"/><Relationship Id="rId2" Type="http://schemas.openxmlformats.org/officeDocument/2006/relationships/hyperlink" Target="https://services.taiwansemi.com/storage/resources/datasheet/1PGSMC5348%20SERIES_D2102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A589-7BA5-B5FD-F67F-FE03828433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Proiect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41B19-B934-5A3A-8E28-7EFD9AB267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Partea</a:t>
            </a:r>
            <a:r>
              <a:rPr lang="en-US" dirty="0"/>
              <a:t> a III-a	</a:t>
            </a:r>
          </a:p>
          <a:p>
            <a:endParaRPr lang="en-US" dirty="0"/>
          </a:p>
          <a:p>
            <a:r>
              <a:rPr lang="en-US" dirty="0"/>
              <a:t>										Pop Catalin-Cornel</a:t>
            </a:r>
          </a:p>
        </p:txBody>
      </p:sp>
    </p:spTree>
    <p:extLst>
      <p:ext uri="{BB962C8B-B14F-4D97-AF65-F5344CB8AC3E}">
        <p14:creationId xmlns:p14="http://schemas.microsoft.com/office/powerpoint/2010/main" val="2993524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94CF-2014-E0F2-A86C-2E7EE64A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Stabilizator</a:t>
            </a:r>
            <a:r>
              <a:rPr lang="en-US" dirty="0"/>
              <a:t> </a:t>
            </a:r>
            <a:r>
              <a:rPr lang="en-US" dirty="0" err="1"/>
              <a:t>liniar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12ADE1-E29F-ECCD-E9FC-1F31AC515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844" y="2635331"/>
            <a:ext cx="4541914" cy="2667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48E31C-7701-A004-85D7-37E891803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523" y="2959208"/>
            <a:ext cx="5692633" cy="20194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8C43F0-A9F6-B614-9D2A-C23B0A6ADC69}"/>
              </a:ext>
            </a:extLst>
          </p:cNvPr>
          <p:cNvSpPr txBox="1"/>
          <p:nvPr/>
        </p:nvSpPr>
        <p:spPr>
          <a:xfrm>
            <a:off x="2138654" y="5193311"/>
            <a:ext cx="242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1. </a:t>
            </a:r>
            <a:r>
              <a:rPr lang="en-US" dirty="0" err="1"/>
              <a:t>Stabilizatorul</a:t>
            </a:r>
            <a:r>
              <a:rPr lang="en-US" dirty="0"/>
              <a:t> </a:t>
            </a:r>
            <a:r>
              <a:rPr lang="en-US" dirty="0" err="1"/>
              <a:t>liniar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7713B6-F95D-85FA-3569-3A7F4FB70ADB}"/>
              </a:ext>
            </a:extLst>
          </p:cNvPr>
          <p:cNvSpPr txBox="1"/>
          <p:nvPr/>
        </p:nvSpPr>
        <p:spPr>
          <a:xfrm>
            <a:off x="10896598" y="3244334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C6A39-F66D-C015-46A6-5189C960CD9C}"/>
              </a:ext>
            </a:extLst>
          </p:cNvPr>
          <p:cNvSpPr txBox="1"/>
          <p:nvPr/>
        </p:nvSpPr>
        <p:spPr>
          <a:xfrm>
            <a:off x="11110759" y="4331652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EDE3E7-34D3-8791-1127-1746F9254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757" y="5373621"/>
            <a:ext cx="5574927" cy="5565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B15A41-A0C8-CEB4-FFB7-67A9D524D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907" y="4978683"/>
            <a:ext cx="1371719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7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283C4-1925-0730-5A7E-9C1C2DC7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Stabilizator</a:t>
            </a:r>
            <a:r>
              <a:rPr lang="en-US" dirty="0"/>
              <a:t> </a:t>
            </a:r>
            <a:r>
              <a:rPr lang="en-US" dirty="0" err="1"/>
              <a:t>liniar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98CAF-3311-CB12-FE25-A9E4EE6DA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Cerin</a:t>
            </a:r>
            <a:r>
              <a:rPr lang="ro-RO" dirty="0"/>
              <a:t>t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impuse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circuit:</a:t>
            </a:r>
          </a:p>
          <a:p>
            <a:r>
              <a:rPr lang="en-US" dirty="0"/>
              <a:t>S</a:t>
            </a:r>
            <a:r>
              <a:rPr lang="en-US" baseline="-25000" dirty="0"/>
              <a:t>UI  </a:t>
            </a:r>
            <a:r>
              <a:rPr lang="en-US" dirty="0"/>
              <a:t>≥ 80</a:t>
            </a:r>
          </a:p>
          <a:p>
            <a:r>
              <a:rPr lang="en-US" dirty="0"/>
              <a:t>Ro &lt; 0,3 Ω</a:t>
            </a:r>
          </a:p>
          <a:p>
            <a:r>
              <a:rPr lang="en-US" dirty="0"/>
              <a:t>Vin=14V</a:t>
            </a:r>
          </a:p>
          <a:p>
            <a:r>
              <a:rPr lang="en-US" dirty="0" err="1"/>
              <a:t>Vout</a:t>
            </a:r>
            <a:r>
              <a:rPr lang="en-US" dirty="0"/>
              <a:t>=12V</a:t>
            </a:r>
          </a:p>
          <a:p>
            <a:r>
              <a:rPr lang="en-US" dirty="0" err="1"/>
              <a:t>Iout</a:t>
            </a:r>
            <a:r>
              <a:rPr lang="en-US" dirty="0"/>
              <a:t>=200mA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03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5787-0762-0B7E-C993-28BD1BFE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Stabilizator</a:t>
            </a:r>
            <a:r>
              <a:rPr lang="en-US" dirty="0"/>
              <a:t> </a:t>
            </a:r>
            <a:r>
              <a:rPr lang="en-US" dirty="0" err="1"/>
              <a:t>liniar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67AC-796D-02B3-A3D6-93F32CE4E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Parametrii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alegerea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diodei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Pret: </a:t>
            </a:r>
            <a:r>
              <a:rPr lang="en-US" dirty="0"/>
              <a:t>0,2$</a:t>
            </a:r>
            <a:endParaRPr lang="en-US" u="sng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96DB8-F162-2ED6-A3C4-B394AC21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02" y="3936449"/>
            <a:ext cx="5540220" cy="956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D332C6-DE40-6DF0-A35B-1EFC14FC0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543" y="2761145"/>
            <a:ext cx="3856054" cy="28348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F592501-EA8A-4AF0-AF9E-F986976E8897}"/>
              </a:ext>
            </a:extLst>
          </p:cNvPr>
          <p:cNvSpPr/>
          <p:nvPr/>
        </p:nvSpPr>
        <p:spPr>
          <a:xfrm>
            <a:off x="7040543" y="3733015"/>
            <a:ext cx="3772002" cy="2034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65780-403F-1D7B-B061-DFA172D53F1E}"/>
              </a:ext>
            </a:extLst>
          </p:cNvPr>
          <p:cNvSpPr txBox="1"/>
          <p:nvPr/>
        </p:nvSpPr>
        <p:spPr>
          <a:xfrm>
            <a:off x="7833674" y="2391813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UFZVTE-1713B</a:t>
            </a:r>
          </a:p>
        </p:txBody>
      </p:sp>
      <p:pic>
        <p:nvPicPr>
          <p:cNvPr id="1026" name="Picture 2" descr="Thumbnail 1">
            <a:extLst>
              <a:ext uri="{FF2B5EF4-FFF2-40B4-BE49-F238E27FC236}">
                <a16:creationId xmlns:a16="http://schemas.microsoft.com/office/drawing/2014/main" id="{5748F57F-42B0-2560-4AD3-AFA27EFC9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5704" y="3011783"/>
            <a:ext cx="762000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9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199B5-710D-A153-BC4D-9B6A4AD4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Stabilizator</a:t>
            </a:r>
            <a:r>
              <a:rPr lang="en-US" dirty="0"/>
              <a:t> </a:t>
            </a:r>
            <a:r>
              <a:rPr lang="en-US" dirty="0" err="1"/>
              <a:t>liniar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9810F-F8CA-5473-EF45-3C0171CE8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Parametrii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alegerea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tranzistorului</a:t>
            </a:r>
            <a:r>
              <a:rPr lang="en-US" dirty="0">
                <a:solidFill>
                  <a:schemeClr val="tx1"/>
                </a:solidFill>
              </a:rPr>
              <a:t>:     </a:t>
            </a:r>
          </a:p>
          <a:p>
            <a:r>
              <a:rPr lang="en-US" dirty="0" err="1">
                <a:solidFill>
                  <a:schemeClr val="tx1"/>
                </a:solidFill>
              </a:rPr>
              <a:t>Icmin</a:t>
            </a:r>
            <a:r>
              <a:rPr lang="en-US" dirty="0">
                <a:solidFill>
                  <a:schemeClr val="tx1"/>
                </a:solidFill>
              </a:rPr>
              <a:t> = 200mA</a:t>
            </a:r>
          </a:p>
          <a:p>
            <a:r>
              <a:rPr lang="en-US" dirty="0" err="1">
                <a:solidFill>
                  <a:schemeClr val="tx1"/>
                </a:solidFill>
              </a:rPr>
              <a:t>Vcemin</a:t>
            </a:r>
            <a:r>
              <a:rPr lang="en-US" dirty="0">
                <a:solidFill>
                  <a:schemeClr val="tx1"/>
                </a:solidFill>
              </a:rPr>
              <a:t> = 1V</a:t>
            </a:r>
          </a:p>
          <a:p>
            <a:r>
              <a:rPr lang="en-US" dirty="0" err="1">
                <a:solidFill>
                  <a:schemeClr val="tx1"/>
                </a:solidFill>
              </a:rPr>
              <a:t>Pdmin</a:t>
            </a:r>
            <a:r>
              <a:rPr lang="en-US" dirty="0">
                <a:solidFill>
                  <a:schemeClr val="tx1"/>
                </a:solidFill>
              </a:rPr>
              <a:t> = 0.2W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Pret: </a:t>
            </a:r>
            <a:r>
              <a:rPr lang="en-US" dirty="0"/>
              <a:t>0,17 $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en-US" u="sng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9CF32-F2E6-D0FF-39E8-F2550B528CF4}"/>
              </a:ext>
            </a:extLst>
          </p:cNvPr>
          <p:cNvSpPr txBox="1"/>
          <p:nvPr/>
        </p:nvSpPr>
        <p:spPr>
          <a:xfrm>
            <a:off x="3858116" y="3139003"/>
            <a:ext cx="61179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</a:rPr>
              <a:t>2N2222A</a:t>
            </a:r>
          </a:p>
          <a:p>
            <a:endParaRPr lang="en-US" b="1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241977-537C-364E-5BE6-21E89367A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116" y="3429000"/>
            <a:ext cx="7453006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501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7070-DA37-CED5-E035-3332532D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Stabilizator</a:t>
            </a:r>
            <a:r>
              <a:rPr lang="en-US" dirty="0"/>
              <a:t> </a:t>
            </a:r>
            <a:r>
              <a:rPr lang="en-US" dirty="0" err="1"/>
              <a:t>liniar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C95EE-8AAA-C092-A705-11396B694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Calculele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determinarea</a:t>
            </a:r>
            <a:r>
              <a:rPr lang="en-US" dirty="0"/>
              <a:t> </a:t>
            </a:r>
            <a:r>
              <a:rPr lang="en-US" dirty="0" err="1"/>
              <a:t>rezistentei</a:t>
            </a:r>
            <a:r>
              <a:rPr lang="en-US" dirty="0"/>
              <a:t> de </a:t>
            </a:r>
            <a:r>
              <a:rPr lang="en-US" dirty="0" err="1"/>
              <a:t>Balast</a:t>
            </a:r>
            <a:r>
              <a:rPr lang="en-US" dirty="0"/>
              <a:t>, S</a:t>
            </a:r>
            <a:r>
              <a:rPr lang="en-US" baseline="-25000" dirty="0"/>
              <a:t>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Ro 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ED2D8D-D0C1-1132-39AB-0381F507D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10" y="3429000"/>
            <a:ext cx="4391349" cy="26118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758C07-4025-67BE-185D-3C63EFEB7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615" y="3789852"/>
            <a:ext cx="4391349" cy="15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5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05F2-16EB-5BE7-1676-35A2757C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Simulari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AA6A39C-C0EB-AFFA-8783-665D33B21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5C1147-80C8-A9CD-E6E8-3D6BC1F87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859" y="2460569"/>
            <a:ext cx="9812280" cy="351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59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35A8-55C3-4701-F5A3-3FDD1760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iesire</a:t>
            </a:r>
            <a:r>
              <a:rPr lang="en-US" dirty="0"/>
              <a:t>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3AAEB51-5F06-673A-4F6F-6BDD99849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168165"/>
            <a:ext cx="9601196" cy="393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61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4C12-C6FC-838C-AFE4-05E51B501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1DFAA0-620A-5CF9-BF78-EA95E4441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197493"/>
            <a:ext cx="9601196" cy="392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75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5158A-12EF-7B07-69F9-D10CB164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baseline="-25000" dirty="0"/>
              <a:t>UI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7D58652-EAD8-C3C7-AAC7-9E3DF61CA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215299"/>
            <a:ext cx="9601195" cy="39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386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C044-82B2-AB54-CFED-7E91728F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Rezultate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D96B1-ADE0-48C0-46C2-65B89EAE1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Vout</a:t>
            </a:r>
            <a:r>
              <a:rPr lang="en-US" dirty="0"/>
              <a:t> = 12.28V</a:t>
            </a:r>
          </a:p>
          <a:p>
            <a:r>
              <a:rPr lang="en-US" dirty="0"/>
              <a:t>Ro = 0.188 Ω</a:t>
            </a:r>
          </a:p>
          <a:p>
            <a:r>
              <a:rPr lang="en-US" dirty="0"/>
              <a:t>S</a:t>
            </a:r>
            <a:r>
              <a:rPr lang="en-US" baseline="-25000" dirty="0"/>
              <a:t>UI </a:t>
            </a:r>
            <a:r>
              <a:rPr lang="en-US" dirty="0"/>
              <a:t>= 1/0.00832771 = 120</a:t>
            </a:r>
          </a:p>
          <a:p>
            <a:pPr marL="0" indent="0">
              <a:buNone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193201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257E-960F-73AA-6741-47EC8A6A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Bibliografie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FA6F-6C16-AA1F-32AE-1CD104DC5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hlinkClick r:id="rId2"/>
              </a:rPr>
              <a:t>1. Dorin </a:t>
            </a:r>
            <a:r>
              <a:rPr lang="en-US" dirty="0" err="1">
                <a:hlinkClick r:id="rId2"/>
              </a:rPr>
              <a:t>Petreuș</a:t>
            </a:r>
            <a:r>
              <a:rPr lang="en-US" dirty="0">
                <a:hlinkClick r:id="rId2"/>
              </a:rPr>
              <a:t>, Toma </a:t>
            </a:r>
            <a:r>
              <a:rPr lang="en-US" dirty="0" err="1">
                <a:hlinkClick r:id="rId2"/>
              </a:rPr>
              <a:t>Patarau</a:t>
            </a:r>
            <a:r>
              <a:rPr lang="en-US" dirty="0">
                <a:hlinkClick r:id="rId2"/>
              </a:rPr>
              <a:t>, Radu Etz - Power supplies – A practical approach, </a:t>
            </a:r>
            <a:r>
              <a:rPr lang="en-US" dirty="0" err="1">
                <a:hlinkClick r:id="rId2"/>
              </a:rPr>
              <a:t>Mediamira</a:t>
            </a:r>
            <a:r>
              <a:rPr lang="en-US" dirty="0">
                <a:hlinkClick r:id="rId2"/>
              </a:rPr>
              <a:t>, Cluj-Napoca, 2016, ISBN: 978-973-713-333-5</a:t>
            </a:r>
          </a:p>
          <a:p>
            <a:pPr marL="0" indent="0" algn="just">
              <a:buNone/>
            </a:pPr>
            <a:r>
              <a:rPr lang="en-US" dirty="0">
                <a:hlinkClick r:id="rId2"/>
              </a:rPr>
              <a:t>2. 1PGSMC5348 SERIES_D2102.pdf</a:t>
            </a:r>
            <a:endParaRPr lang="en-US" dirty="0"/>
          </a:p>
          <a:p>
            <a:pPr marL="0" indent="0" algn="just">
              <a:buNone/>
            </a:pPr>
            <a:r>
              <a:rPr lang="en-US" dirty="0">
                <a:hlinkClick r:id="rId3"/>
              </a:rPr>
              <a:t>3. 2n2222a.pdf (SECURED)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352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E29CC4B1711C44897CE31227EB7480" ma:contentTypeVersion="14" ma:contentTypeDescription="Create a new document." ma:contentTypeScope="" ma:versionID="e191fb674869d34a93636d5cc049a75f">
  <xsd:schema xmlns:xsd="http://www.w3.org/2001/XMLSchema" xmlns:xs="http://www.w3.org/2001/XMLSchema" xmlns:p="http://schemas.microsoft.com/office/2006/metadata/properties" xmlns:ns3="5f1a97bc-cb5c-4215-a213-9601255787aa" xmlns:ns4="72e0da0d-2219-4f31-98a5-0ff1578319fa" targetNamespace="http://schemas.microsoft.com/office/2006/metadata/properties" ma:root="true" ma:fieldsID="5f8e3659dfc5e66fa9494f71ba3cfa33" ns3:_="" ns4:_="">
    <xsd:import namespace="5f1a97bc-cb5c-4215-a213-9601255787aa"/>
    <xsd:import namespace="72e0da0d-2219-4f31-98a5-0ff1578319f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a97bc-cb5c-4215-a213-9601255787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e0da0d-2219-4f31-98a5-0ff1578319f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1a97bc-cb5c-4215-a213-9601255787a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2EB4DC-AAA7-4C91-A407-9410270110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1a97bc-cb5c-4215-a213-9601255787aa"/>
    <ds:schemaRef ds:uri="72e0da0d-2219-4f31-98a5-0ff1578319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7CB85C-0EA5-4C53-94E1-36B16676DFFA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72e0da0d-2219-4f31-98a5-0ff1578319fa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f1a97bc-cb5c-4215-a213-9601255787aa"/>
  </ds:schemaRefs>
</ds:datastoreItem>
</file>

<file path=customXml/itemProps3.xml><?xml version="1.0" encoding="utf-8"?>
<ds:datastoreItem xmlns:ds="http://schemas.openxmlformats.org/officeDocument/2006/customXml" ds:itemID="{A26FC04B-AEE0-4264-9C5B-7811EB19AE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660</TotalTime>
  <Words>167</Words>
  <Application>Microsoft Office PowerPoint</Application>
  <PresentationFormat>Widescreen</PresentationFormat>
  <Paragraphs>43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Garamond</vt:lpstr>
      <vt:lpstr>Organic</vt:lpstr>
      <vt:lpstr>Proiect </vt:lpstr>
      <vt:lpstr>Stabilizator liniar</vt:lpstr>
      <vt:lpstr>Stabilizator liniar</vt:lpstr>
      <vt:lpstr>Stabilizator liniar</vt:lpstr>
      <vt:lpstr>Stabilizator liniar</vt:lpstr>
      <vt:lpstr>Stabilizator liniar</vt:lpstr>
      <vt:lpstr>Simulari</vt:lpstr>
      <vt:lpstr>Tensiunea de iesire </vt:lpstr>
      <vt:lpstr>Ro</vt:lpstr>
      <vt:lpstr>SUI</vt:lpstr>
      <vt:lpstr>Rezultate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Catalin Cornel Pop</dc:creator>
  <cp:lastModifiedBy>Catalin Cornel Pop</cp:lastModifiedBy>
  <cp:revision>4</cp:revision>
  <dcterms:created xsi:type="dcterms:W3CDTF">2025-10-31T19:16:38Z</dcterms:created>
  <dcterms:modified xsi:type="dcterms:W3CDTF">2025-11-29T11:40:14Z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0x010100B0E29CC4B1711C44897CE31227EB7480</vt:lpwstr>
  </property>
</Properties>
</file>