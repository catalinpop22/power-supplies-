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81" d="100"/>
          <a:sy n="81" d="100"/>
        </p:scale>
        <p:origin x="754"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6E01C8C0-96D0-4BFF-894B-B79B348E90F3}" type="datetimeFigureOut">
              <a:rPr lang="en-US" smtClean="0"/>
              <a:t>12/13/2025</a:t>
            </a:fld>
            <a:endParaRPr lang="en-US"/>
          </a:p>
        </p:txBody>
      </p:sp>
      <p:sp>
        <p:nvSpPr>
          <p:cNvPr id="5" name="Footer Placeholder 4"/>
          <p:cNvSpPr>
            <a:spLocks noGrp="1"/>
          </p:cNvSpPr>
          <p:nvPr>
            <p:ph type="ftr" sz="quarter" idx="11"/>
          </p:nvPr>
        </p:nvSpPr>
        <p:spPr>
          <a:xfrm>
            <a:off x="2692397" y="5037663"/>
            <a:ext cx="5214635" cy="279400"/>
          </a:xfrm>
        </p:spPr>
        <p:txBody>
          <a:bodyPr/>
          <a:lstStyle/>
          <a:p>
            <a:endParaRPr lang="en-US"/>
          </a:p>
        </p:txBody>
      </p:sp>
      <p:sp>
        <p:nvSpPr>
          <p:cNvPr id="6" name="Slide Number Placeholder 5"/>
          <p:cNvSpPr>
            <a:spLocks noGrp="1"/>
          </p:cNvSpPr>
          <p:nvPr>
            <p:ph type="sldNum" sz="quarter" idx="12"/>
          </p:nvPr>
        </p:nvSpPr>
        <p:spPr>
          <a:xfrm>
            <a:off x="8956900" y="5037663"/>
            <a:ext cx="551167" cy="279400"/>
          </a:xfrm>
        </p:spPr>
        <p:txBody>
          <a:bodyPr/>
          <a:lstStyle/>
          <a:p>
            <a:fld id="{DC3D99FC-9441-4792-908F-111982B8945F}" type="slidenum">
              <a:rPr lang="en-US" smtClean="0"/>
              <a:t>‹#›</a:t>
            </a:fld>
            <a:endParaRPr lang="en-US"/>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634533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E01C8C0-96D0-4BFF-894B-B79B348E90F3}" type="datetimeFigureOut">
              <a:rPr lang="en-US" smtClean="0"/>
              <a:t>12/13/2025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C3D99FC-9441-4792-908F-111982B8945F}" type="slidenum">
              <a:rPr lang="en-US" smtClean="0"/>
              <a:t>‹#›</a:t>
            </a:fld>
            <a:endParaRPr lang="en-US"/>
          </a:p>
        </p:txBody>
      </p:sp>
    </p:spTree>
    <p:extLst>
      <p:ext uri="{BB962C8B-B14F-4D97-AF65-F5344CB8AC3E}">
        <p14:creationId xmlns:p14="http://schemas.microsoft.com/office/powerpoint/2010/main" val="926486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E01C8C0-96D0-4BFF-894B-B79B348E90F3}" type="datetimeFigureOut">
              <a:rPr lang="en-US" smtClean="0"/>
              <a:t>12/13/2025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C3D99FC-9441-4792-908F-111982B8945F}" type="slidenum">
              <a:rPr lang="en-US" smtClean="0"/>
              <a:t>‹#›</a:t>
            </a:fld>
            <a:endParaRPr lang="en-US"/>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45374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E01C8C0-96D0-4BFF-894B-B79B348E90F3}" type="datetimeFigureOut">
              <a:rPr lang="en-US" smtClean="0"/>
              <a:t>12/13/2025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C3D99FC-9441-4792-908F-111982B8945F}" type="slidenum">
              <a:rPr lang="en-US" smtClean="0"/>
              <a:t>‹#›</a:t>
            </a:fld>
            <a:endParaRPr lang="en-US"/>
          </a:p>
        </p:txBody>
      </p:sp>
    </p:spTree>
    <p:extLst>
      <p:ext uri="{BB962C8B-B14F-4D97-AF65-F5344CB8AC3E}">
        <p14:creationId xmlns:p14="http://schemas.microsoft.com/office/powerpoint/2010/main" val="2297796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E01C8C0-96D0-4BFF-894B-B79B348E90F3}" type="datetimeFigureOut">
              <a:rPr lang="en-US" smtClean="0"/>
              <a:t>12/13/2025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C3D99FC-9441-4792-908F-111982B8945F}" type="slidenum">
              <a:rPr lang="en-US" smtClean="0"/>
              <a:t>‹#›</a:t>
            </a:fld>
            <a:endParaRPr lang="en-US"/>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81079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E01C8C0-96D0-4BFF-894B-B79B348E90F3}" type="datetimeFigureOut">
              <a:rPr lang="en-US" smtClean="0"/>
              <a:t>12/13/2025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C3D99FC-9441-4792-908F-111982B8945F}" type="slidenum">
              <a:rPr lang="en-US" smtClean="0"/>
              <a:t>‹#›</a:t>
            </a:fld>
            <a:endParaRPr lang="en-US"/>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718958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E01C8C0-96D0-4BFF-894B-B79B348E90F3}" type="datetimeFigureOut">
              <a:rPr lang="en-US" smtClean="0"/>
              <a:t>12/13/2025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C3D99FC-9441-4792-908F-111982B8945F}" type="slidenum">
              <a:rPr lang="en-US" smtClean="0"/>
              <a:t>‹#›</a:t>
            </a:fld>
            <a:endParaRPr lang="en-US"/>
          </a:p>
        </p:txBody>
      </p:sp>
    </p:spTree>
    <p:extLst>
      <p:ext uri="{BB962C8B-B14F-4D97-AF65-F5344CB8AC3E}">
        <p14:creationId xmlns:p14="http://schemas.microsoft.com/office/powerpoint/2010/main" val="28674610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E01C8C0-96D0-4BFF-894B-B79B348E90F3}" type="datetimeFigureOut">
              <a:rPr lang="en-US" smtClean="0"/>
              <a:t>12/13/2025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C3D99FC-9441-4792-908F-111982B8945F}" type="slidenum">
              <a:rPr lang="en-US" smtClean="0"/>
              <a:t>‹#›</a:t>
            </a:fld>
            <a:endParaRPr lang="en-US"/>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132184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E01C8C0-96D0-4BFF-894B-B79B348E90F3}" type="datetimeFigureOut">
              <a:rPr lang="en-US" smtClean="0"/>
              <a:t>12/13/2025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C3D99FC-9441-4792-908F-111982B8945F}" type="slidenum">
              <a:rPr lang="en-US" smtClean="0"/>
              <a:t>‹#›</a:t>
            </a:fld>
            <a:endParaRPr lang="en-US"/>
          </a:p>
        </p:txBody>
      </p:sp>
    </p:spTree>
    <p:extLst>
      <p:ext uri="{BB962C8B-B14F-4D97-AF65-F5344CB8AC3E}">
        <p14:creationId xmlns:p14="http://schemas.microsoft.com/office/powerpoint/2010/main" val="10261301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E01C8C0-96D0-4BFF-894B-B79B348E90F3}" type="datetimeFigureOut">
              <a:rPr lang="en-US" smtClean="0"/>
              <a:t>12/13/2025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C3D99FC-9441-4792-908F-111982B8945F}" type="slidenum">
              <a:rPr lang="en-US" smtClean="0"/>
              <a:t>‹#›</a:t>
            </a:fld>
            <a:endParaRPr lang="en-US"/>
          </a:p>
        </p:txBody>
      </p:sp>
    </p:spTree>
    <p:extLst>
      <p:ext uri="{BB962C8B-B14F-4D97-AF65-F5344CB8AC3E}">
        <p14:creationId xmlns:p14="http://schemas.microsoft.com/office/powerpoint/2010/main" val="1516833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E01C8C0-96D0-4BFF-894B-B79B348E90F3}" type="datetimeFigureOut">
              <a:rPr lang="en-US" smtClean="0"/>
              <a:t>12/13/2025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C3D99FC-9441-4792-908F-111982B8945F}" type="slidenum">
              <a:rPr lang="en-US" smtClean="0"/>
              <a:t>‹#›</a:t>
            </a:fld>
            <a:endParaRPr lang="en-US"/>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7156985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E01C8C0-96D0-4BFF-894B-B79B348E90F3}" type="datetimeFigureOut">
              <a:rPr lang="en-US" smtClean="0"/>
              <a:t>12/13/2025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C3D99FC-9441-4792-908F-111982B8945F}" type="slidenum">
              <a:rPr lang="en-US" smtClean="0"/>
              <a:t>‹#›</a:t>
            </a:fld>
            <a:endParaRPr lang="en-US"/>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6883225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E01C8C0-96D0-4BFF-894B-B79B348E90F3}" type="datetimeFigureOut">
              <a:rPr lang="en-US" smtClean="0"/>
              <a:t>12/13/2025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C3D99FC-9441-4792-908F-111982B8945F}" type="slidenum">
              <a:rPr lang="en-US" smtClean="0"/>
              <a:t>‹#›</a:t>
            </a:fld>
            <a:endParaRPr lang="en-US"/>
          </a:p>
        </p:txBody>
      </p:sp>
    </p:spTree>
    <p:extLst>
      <p:ext uri="{BB962C8B-B14F-4D97-AF65-F5344CB8AC3E}">
        <p14:creationId xmlns:p14="http://schemas.microsoft.com/office/powerpoint/2010/main" val="5254020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E01C8C0-96D0-4BFF-894B-B79B348E90F3}" type="datetimeFigureOut">
              <a:rPr lang="en-US" smtClean="0"/>
              <a:t>12/13/2025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C3D99FC-9441-4792-908F-111982B8945F}" type="slidenum">
              <a:rPr lang="en-US" smtClean="0"/>
              <a:t>‹#›</a:t>
            </a:fld>
            <a:endParaRPr lang="en-US"/>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0452790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E01C8C0-96D0-4BFF-894B-B79B348E90F3}" type="datetimeFigureOut">
              <a:rPr lang="en-US" smtClean="0"/>
              <a:t>12/13/2025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C3D99FC-9441-4792-908F-111982B8945F}" type="slidenum">
              <a:rPr lang="en-US" smtClean="0"/>
              <a:t>‹#›</a:t>
            </a:fld>
            <a:endParaRPr lang="en-US"/>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185868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E01C8C0-96D0-4BFF-894B-B79B348E90F3}" type="datetimeFigureOut">
              <a:rPr lang="en-US" smtClean="0"/>
              <a:t>12/13/2025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C3D99FC-9441-4792-908F-111982B8945F}" type="slidenum">
              <a:rPr lang="en-US" smtClean="0"/>
              <a:t>‹#›</a:t>
            </a:fld>
            <a:endParaRPr lang="en-US"/>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9980853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E01C8C0-96D0-4BFF-894B-B79B348E90F3}" type="datetimeFigureOut">
              <a:rPr lang="en-US" smtClean="0"/>
              <a:t>12/13/2025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C3D99FC-9441-4792-908F-111982B8945F}" type="slidenum">
              <a:rPr lang="en-US" smtClean="0"/>
              <a:t>‹#›</a:t>
            </a:fld>
            <a:endParaRPr lang="en-US"/>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04850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6E01C8C0-96D0-4BFF-894B-B79B348E90F3}" type="datetimeFigureOut">
              <a:rPr lang="en-US" smtClean="0"/>
              <a:t>12/13/2025</a:t>
            </a:fld>
            <a:endParaRPr lang="en-US"/>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C3D99FC-9441-4792-908F-111982B8945F}" type="slidenum">
              <a:rPr lang="en-US" smtClean="0"/>
              <a:t>‹#›</a:t>
            </a:fld>
            <a:endParaRPr lang="en-US"/>
          </a:p>
        </p:txBody>
      </p:sp>
    </p:spTree>
    <p:extLst>
      <p:ext uri="{BB962C8B-B14F-4D97-AF65-F5344CB8AC3E}">
        <p14:creationId xmlns:p14="http://schemas.microsoft.com/office/powerpoint/2010/main" val="354077646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2466A3-8D48-4995-50DF-650CD215AC4C}"/>
              </a:ext>
            </a:extLst>
          </p:cNvPr>
          <p:cNvSpPr>
            <a:spLocks noGrp="1"/>
          </p:cNvSpPr>
          <p:nvPr>
            <p:ph type="ctrTitle"/>
          </p:nvPr>
        </p:nvSpPr>
        <p:spPr/>
        <p:txBody>
          <a:bodyPr/>
          <a:lstStyle/>
          <a:p>
            <a:r>
              <a:rPr lang="ro-RO" dirty="0"/>
              <a:t>	Proiect surse	</a:t>
            </a:r>
            <a:endParaRPr lang="en-US" dirty="0"/>
          </a:p>
        </p:txBody>
      </p:sp>
      <p:sp>
        <p:nvSpPr>
          <p:cNvPr id="3" name="Subtitle 2">
            <a:extLst>
              <a:ext uri="{FF2B5EF4-FFF2-40B4-BE49-F238E27FC236}">
                <a16:creationId xmlns:a16="http://schemas.microsoft.com/office/drawing/2014/main" id="{AF51A8F0-516D-ED30-A659-FF118690E680}"/>
              </a:ext>
            </a:extLst>
          </p:cNvPr>
          <p:cNvSpPr>
            <a:spLocks noGrp="1"/>
          </p:cNvSpPr>
          <p:nvPr>
            <p:ph type="subTitle" idx="1"/>
          </p:nvPr>
        </p:nvSpPr>
        <p:spPr/>
        <p:txBody>
          <a:bodyPr>
            <a:normAutofit lnSpcReduction="10000"/>
          </a:bodyPr>
          <a:lstStyle/>
          <a:p>
            <a:r>
              <a:rPr lang="ro-RO" dirty="0"/>
              <a:t>Partea a V-a</a:t>
            </a:r>
          </a:p>
          <a:p>
            <a:r>
              <a:rPr lang="ro-RO" dirty="0"/>
              <a:t>Pop Cătălin-Cornel</a:t>
            </a:r>
          </a:p>
          <a:p>
            <a:r>
              <a:rPr lang="ro-RO" dirty="0"/>
              <a:t>Grupa</a:t>
            </a:r>
            <a:r>
              <a:rPr lang="en-US" dirty="0"/>
              <a:t>: 2143</a:t>
            </a:r>
          </a:p>
        </p:txBody>
      </p:sp>
    </p:spTree>
    <p:extLst>
      <p:ext uri="{BB962C8B-B14F-4D97-AF65-F5344CB8AC3E}">
        <p14:creationId xmlns:p14="http://schemas.microsoft.com/office/powerpoint/2010/main" val="26849348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4CB12D-CC66-AB56-1C13-6C74F9E81CFB}"/>
              </a:ext>
            </a:extLst>
          </p:cNvPr>
          <p:cNvSpPr>
            <a:spLocks noGrp="1"/>
          </p:cNvSpPr>
          <p:nvPr>
            <p:ph type="title"/>
          </p:nvPr>
        </p:nvSpPr>
        <p:spPr/>
        <p:txBody>
          <a:bodyPr/>
          <a:lstStyle/>
          <a:p>
            <a:r>
              <a:rPr lang="en-US" dirty="0" err="1"/>
              <a:t>Convertorul</a:t>
            </a:r>
            <a:r>
              <a:rPr lang="en-US" dirty="0"/>
              <a:t> Buck</a:t>
            </a:r>
          </a:p>
        </p:txBody>
      </p:sp>
      <p:pic>
        <p:nvPicPr>
          <p:cNvPr id="5" name="Content Placeholder 4">
            <a:extLst>
              <a:ext uri="{FF2B5EF4-FFF2-40B4-BE49-F238E27FC236}">
                <a16:creationId xmlns:a16="http://schemas.microsoft.com/office/drawing/2014/main" id="{EA16C991-26D8-CE70-8620-5D85ACB5A528}"/>
              </a:ext>
            </a:extLst>
          </p:cNvPr>
          <p:cNvPicPr>
            <a:picLocks noGrp="1" noChangeAspect="1"/>
          </p:cNvPicPr>
          <p:nvPr>
            <p:ph idx="1"/>
          </p:nvPr>
        </p:nvPicPr>
        <p:blipFill>
          <a:blip r:embed="rId2"/>
          <a:stretch>
            <a:fillRect/>
          </a:stretch>
        </p:blipFill>
        <p:spPr>
          <a:xfrm>
            <a:off x="829449" y="2527945"/>
            <a:ext cx="6721422" cy="2644369"/>
          </a:xfrm>
          <a:prstGeom prst="rect">
            <a:avLst/>
          </a:prstGeom>
        </p:spPr>
      </p:pic>
      <p:sp>
        <p:nvSpPr>
          <p:cNvPr id="7" name="TextBox 6">
            <a:extLst>
              <a:ext uri="{FF2B5EF4-FFF2-40B4-BE49-F238E27FC236}">
                <a16:creationId xmlns:a16="http://schemas.microsoft.com/office/drawing/2014/main" id="{30BB181E-B62E-A7B1-3477-16FE3D7763DD}"/>
              </a:ext>
            </a:extLst>
          </p:cNvPr>
          <p:cNvSpPr txBox="1"/>
          <p:nvPr/>
        </p:nvSpPr>
        <p:spPr>
          <a:xfrm>
            <a:off x="7334163" y="2586991"/>
            <a:ext cx="4028388" cy="2585323"/>
          </a:xfrm>
          <a:prstGeom prst="rect">
            <a:avLst/>
          </a:prstGeom>
          <a:noFill/>
        </p:spPr>
        <p:txBody>
          <a:bodyPr wrap="square" rtlCol="0">
            <a:spAutoFit/>
          </a:bodyPr>
          <a:lstStyle/>
          <a:p>
            <a:r>
              <a:rPr lang="en-US" dirty="0" err="1"/>
              <a:t>Acest</a:t>
            </a:r>
            <a:r>
              <a:rPr lang="en-US" dirty="0"/>
              <a:t> tip de convertor </a:t>
            </a:r>
            <a:r>
              <a:rPr lang="ro-RO" dirty="0"/>
              <a:t>este un coborâtor de tensiune. Când tranzistorul este pornit tensiunea de la intrare încarcă inductanța și tensiunea de intrare ajunge pe sarcină, însă valoarea ei este specifică tensiunii dorite. În cazul nostru ajungem de la o tensiune de 14V la una de 3.3V, cu o creștere semnificativă a curentului de ieșire a convertorului. </a:t>
            </a:r>
            <a:endParaRPr lang="en-US" dirty="0"/>
          </a:p>
        </p:txBody>
      </p:sp>
    </p:spTree>
    <p:extLst>
      <p:ext uri="{BB962C8B-B14F-4D97-AF65-F5344CB8AC3E}">
        <p14:creationId xmlns:p14="http://schemas.microsoft.com/office/powerpoint/2010/main" val="38000432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88FAF5-53AF-5C96-F939-5E9D03EFF550}"/>
              </a:ext>
            </a:extLst>
          </p:cNvPr>
          <p:cNvSpPr>
            <a:spLocks noGrp="1"/>
          </p:cNvSpPr>
          <p:nvPr>
            <p:ph type="title"/>
          </p:nvPr>
        </p:nvSpPr>
        <p:spPr/>
        <p:txBody>
          <a:bodyPr/>
          <a:lstStyle/>
          <a:p>
            <a:r>
              <a:rPr lang="ro-RO" dirty="0"/>
              <a:t>Cerințele de proiectare	</a:t>
            </a:r>
            <a:endParaRPr lang="en-US" dirty="0"/>
          </a:p>
        </p:txBody>
      </p:sp>
      <p:sp>
        <p:nvSpPr>
          <p:cNvPr id="3" name="Content Placeholder 2">
            <a:extLst>
              <a:ext uri="{FF2B5EF4-FFF2-40B4-BE49-F238E27FC236}">
                <a16:creationId xmlns:a16="http://schemas.microsoft.com/office/drawing/2014/main" id="{CA02F851-2BA3-536B-3B42-669328E505CA}"/>
              </a:ext>
            </a:extLst>
          </p:cNvPr>
          <p:cNvSpPr>
            <a:spLocks noGrp="1"/>
          </p:cNvSpPr>
          <p:nvPr>
            <p:ph idx="1"/>
          </p:nvPr>
        </p:nvSpPr>
        <p:spPr/>
        <p:txBody>
          <a:bodyPr/>
          <a:lstStyle/>
          <a:p>
            <a:r>
              <a:rPr lang="ro-RO" dirty="0"/>
              <a:t>Vout = 3.3V</a:t>
            </a:r>
          </a:p>
          <a:p>
            <a:r>
              <a:rPr lang="ro-RO" dirty="0"/>
              <a:t>Iout = 2A</a:t>
            </a:r>
          </a:p>
          <a:p>
            <a:r>
              <a:rPr lang="ro-RO" dirty="0"/>
              <a:t>dVout = 50mV</a:t>
            </a:r>
          </a:p>
          <a:p>
            <a:r>
              <a:rPr lang="ro-RO" dirty="0"/>
              <a:t>dIl = 30%</a:t>
            </a:r>
          </a:p>
          <a:p>
            <a:r>
              <a:rPr lang="ro-RO" dirty="0"/>
              <a:t>F = 200Khz</a:t>
            </a:r>
          </a:p>
        </p:txBody>
      </p:sp>
    </p:spTree>
    <p:extLst>
      <p:ext uri="{BB962C8B-B14F-4D97-AF65-F5344CB8AC3E}">
        <p14:creationId xmlns:p14="http://schemas.microsoft.com/office/powerpoint/2010/main" val="16150334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E2D79C-A800-6FFA-071C-F9D71EDEBBE4}"/>
              </a:ext>
            </a:extLst>
          </p:cNvPr>
          <p:cNvSpPr>
            <a:spLocks noGrp="1"/>
          </p:cNvSpPr>
          <p:nvPr>
            <p:ph type="title"/>
          </p:nvPr>
        </p:nvSpPr>
        <p:spPr/>
        <p:txBody>
          <a:bodyPr/>
          <a:lstStyle/>
          <a:p>
            <a:r>
              <a:rPr lang="ro-RO" dirty="0"/>
              <a:t>Fișa de calcul</a:t>
            </a:r>
            <a:endParaRPr lang="en-US" dirty="0"/>
          </a:p>
        </p:txBody>
      </p:sp>
      <p:pic>
        <p:nvPicPr>
          <p:cNvPr id="5" name="Content Placeholder 4">
            <a:extLst>
              <a:ext uri="{FF2B5EF4-FFF2-40B4-BE49-F238E27FC236}">
                <a16:creationId xmlns:a16="http://schemas.microsoft.com/office/drawing/2014/main" id="{BD9ED8B0-0BA7-16C1-D3EE-9EC003E615D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483311" y="2601800"/>
            <a:ext cx="5225378" cy="3368338"/>
          </a:xfrm>
        </p:spPr>
      </p:pic>
    </p:spTree>
    <p:extLst>
      <p:ext uri="{BB962C8B-B14F-4D97-AF65-F5344CB8AC3E}">
        <p14:creationId xmlns:p14="http://schemas.microsoft.com/office/powerpoint/2010/main" val="15757466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B6ACD2-3A40-8C84-4334-C5F371517DD4}"/>
              </a:ext>
            </a:extLst>
          </p:cNvPr>
          <p:cNvSpPr>
            <a:spLocks noGrp="1"/>
          </p:cNvSpPr>
          <p:nvPr>
            <p:ph type="title"/>
          </p:nvPr>
        </p:nvSpPr>
        <p:spPr/>
        <p:txBody>
          <a:bodyPr/>
          <a:lstStyle/>
          <a:p>
            <a:r>
              <a:rPr lang="ro-RO" dirty="0"/>
              <a:t>Alegere componente</a:t>
            </a:r>
            <a:endParaRPr lang="en-US" dirty="0"/>
          </a:p>
        </p:txBody>
      </p:sp>
      <p:sp>
        <p:nvSpPr>
          <p:cNvPr id="3" name="Content Placeholder 2">
            <a:extLst>
              <a:ext uri="{FF2B5EF4-FFF2-40B4-BE49-F238E27FC236}">
                <a16:creationId xmlns:a16="http://schemas.microsoft.com/office/drawing/2014/main" id="{016A5A08-0623-3FEC-4A68-B9E7D1FE623D}"/>
              </a:ext>
            </a:extLst>
          </p:cNvPr>
          <p:cNvSpPr>
            <a:spLocks noGrp="1"/>
          </p:cNvSpPr>
          <p:nvPr>
            <p:ph idx="1"/>
          </p:nvPr>
        </p:nvSpPr>
        <p:spPr>
          <a:xfrm>
            <a:off x="1295402" y="2556932"/>
            <a:ext cx="9601196" cy="3318936"/>
          </a:xfrm>
        </p:spPr>
        <p:txBody>
          <a:bodyPr/>
          <a:lstStyle/>
          <a:p>
            <a:r>
              <a:rPr lang="ro-RO" dirty="0"/>
              <a:t>Dioda aleasă</a:t>
            </a:r>
            <a:r>
              <a:rPr lang="en-US" dirty="0"/>
              <a:t>: MBR745</a:t>
            </a:r>
          </a:p>
          <a:p>
            <a:r>
              <a:rPr lang="en-US" dirty="0"/>
              <a:t>Pret: 1,05 $</a:t>
            </a:r>
          </a:p>
        </p:txBody>
      </p:sp>
      <p:pic>
        <p:nvPicPr>
          <p:cNvPr id="5" name="Picture 4">
            <a:extLst>
              <a:ext uri="{FF2B5EF4-FFF2-40B4-BE49-F238E27FC236}">
                <a16:creationId xmlns:a16="http://schemas.microsoft.com/office/drawing/2014/main" id="{DDB7AD40-9A82-B2E0-8260-97099DBF6CF2}"/>
              </a:ext>
            </a:extLst>
          </p:cNvPr>
          <p:cNvPicPr>
            <a:picLocks noChangeAspect="1"/>
          </p:cNvPicPr>
          <p:nvPr/>
        </p:nvPicPr>
        <p:blipFill>
          <a:blip r:embed="rId2"/>
          <a:stretch>
            <a:fillRect/>
          </a:stretch>
        </p:blipFill>
        <p:spPr>
          <a:xfrm>
            <a:off x="4517747" y="2760801"/>
            <a:ext cx="6569009" cy="1303133"/>
          </a:xfrm>
          <a:prstGeom prst="rect">
            <a:avLst/>
          </a:prstGeom>
        </p:spPr>
      </p:pic>
      <p:sp>
        <p:nvSpPr>
          <p:cNvPr id="6" name="TextBox 5">
            <a:extLst>
              <a:ext uri="{FF2B5EF4-FFF2-40B4-BE49-F238E27FC236}">
                <a16:creationId xmlns:a16="http://schemas.microsoft.com/office/drawing/2014/main" id="{12504B17-39BD-3394-87B6-80393E9339DA}"/>
              </a:ext>
            </a:extLst>
          </p:cNvPr>
          <p:cNvSpPr txBox="1"/>
          <p:nvPr/>
        </p:nvSpPr>
        <p:spPr>
          <a:xfrm>
            <a:off x="1295402" y="4267802"/>
            <a:ext cx="8446417" cy="1200329"/>
          </a:xfrm>
          <a:prstGeom prst="rect">
            <a:avLst/>
          </a:prstGeom>
          <a:noFill/>
        </p:spPr>
        <p:txBody>
          <a:bodyPr wrap="square" rtlCol="0">
            <a:spAutoFit/>
          </a:bodyPr>
          <a:lstStyle/>
          <a:p>
            <a:pPr algn="just"/>
            <a:r>
              <a:rPr lang="en-US" dirty="0"/>
              <a:t>De </a:t>
            </a:r>
            <a:r>
              <a:rPr lang="en-US" dirty="0" err="1"/>
              <a:t>ce</a:t>
            </a:r>
            <a:r>
              <a:rPr lang="en-US" dirty="0"/>
              <a:t> Schottky? </a:t>
            </a:r>
            <a:r>
              <a:rPr lang="en-US" dirty="0" err="1"/>
              <a:t>Deoarece</a:t>
            </a:r>
            <a:r>
              <a:rPr lang="en-US" dirty="0"/>
              <a:t> </a:t>
            </a:r>
            <a:r>
              <a:rPr lang="en-US" dirty="0" err="1"/>
              <a:t>tranzistorul</a:t>
            </a:r>
            <a:r>
              <a:rPr lang="en-US" dirty="0"/>
              <a:t> o s</a:t>
            </a:r>
            <a:r>
              <a:rPr lang="ro-RO" dirty="0"/>
              <a:t>ă</a:t>
            </a:r>
            <a:r>
              <a:rPr lang="en-US" dirty="0"/>
              <a:t> </a:t>
            </a:r>
            <a:r>
              <a:rPr lang="en-US" dirty="0" err="1"/>
              <a:t>comute</a:t>
            </a:r>
            <a:r>
              <a:rPr lang="en-US" dirty="0"/>
              <a:t> la </a:t>
            </a:r>
            <a:r>
              <a:rPr lang="en-US" dirty="0" err="1"/>
              <a:t>frecven</a:t>
            </a:r>
            <a:r>
              <a:rPr lang="ro-RO" dirty="0"/>
              <a:t>ța de 200Khz, astfel o să avem nevoie de un timp de recuperare pe diodă foarte scurt. Diodele </a:t>
            </a:r>
            <a:r>
              <a:rPr lang="en-US" dirty="0"/>
              <a:t>Schottky</a:t>
            </a:r>
            <a:r>
              <a:rPr lang="ro-RO" dirty="0"/>
              <a:t> au timpi de recuperare foarte scurți. Pe lângă asta, căderea de tensiune este una mai mică, astfel evităm încălzirea componentei. </a:t>
            </a:r>
            <a:endParaRPr lang="en-US" dirty="0"/>
          </a:p>
        </p:txBody>
      </p:sp>
    </p:spTree>
    <p:extLst>
      <p:ext uri="{BB962C8B-B14F-4D97-AF65-F5344CB8AC3E}">
        <p14:creationId xmlns:p14="http://schemas.microsoft.com/office/powerpoint/2010/main" val="26139651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E9B50C-CEC6-266C-9BE6-74E67B388B08}"/>
              </a:ext>
            </a:extLst>
          </p:cNvPr>
          <p:cNvSpPr>
            <a:spLocks noGrp="1"/>
          </p:cNvSpPr>
          <p:nvPr>
            <p:ph type="title"/>
          </p:nvPr>
        </p:nvSpPr>
        <p:spPr/>
        <p:txBody>
          <a:bodyPr/>
          <a:lstStyle/>
          <a:p>
            <a:r>
              <a:rPr lang="ro-RO" dirty="0"/>
              <a:t>Alegere componente</a:t>
            </a:r>
            <a:endParaRPr lang="en-US" dirty="0"/>
          </a:p>
        </p:txBody>
      </p:sp>
      <p:sp>
        <p:nvSpPr>
          <p:cNvPr id="3" name="Content Placeholder 2">
            <a:extLst>
              <a:ext uri="{FF2B5EF4-FFF2-40B4-BE49-F238E27FC236}">
                <a16:creationId xmlns:a16="http://schemas.microsoft.com/office/drawing/2014/main" id="{522ECFBF-B4E8-B7CE-0E91-CB34876FCB4A}"/>
              </a:ext>
            </a:extLst>
          </p:cNvPr>
          <p:cNvSpPr>
            <a:spLocks noGrp="1"/>
          </p:cNvSpPr>
          <p:nvPr>
            <p:ph idx="1"/>
          </p:nvPr>
        </p:nvSpPr>
        <p:spPr/>
        <p:txBody>
          <a:bodyPr/>
          <a:lstStyle/>
          <a:p>
            <a:r>
              <a:rPr lang="ro-RO" dirty="0"/>
              <a:t>Tranzistorul ales</a:t>
            </a:r>
            <a:r>
              <a:rPr lang="en-US" dirty="0"/>
              <a:t>: SI4848DY </a:t>
            </a:r>
          </a:p>
          <a:p>
            <a:r>
              <a:rPr lang="en-US" dirty="0"/>
              <a:t>Pre</a:t>
            </a:r>
            <a:r>
              <a:rPr lang="ro-RO" dirty="0"/>
              <a:t>ț</a:t>
            </a:r>
            <a:r>
              <a:rPr lang="en-US" dirty="0"/>
              <a:t>:</a:t>
            </a:r>
            <a:r>
              <a:rPr lang="ro-RO" dirty="0"/>
              <a:t> </a:t>
            </a:r>
            <a:r>
              <a:rPr lang="en-US" dirty="0"/>
              <a:t>2,17 $</a:t>
            </a:r>
            <a:endParaRPr lang="ro-RO" dirty="0"/>
          </a:p>
          <a:p>
            <a:pPr marL="0" indent="0">
              <a:buNone/>
            </a:pPr>
            <a:endParaRPr lang="en-US" dirty="0"/>
          </a:p>
        </p:txBody>
      </p:sp>
      <p:pic>
        <p:nvPicPr>
          <p:cNvPr id="6" name="Picture 5">
            <a:extLst>
              <a:ext uri="{FF2B5EF4-FFF2-40B4-BE49-F238E27FC236}">
                <a16:creationId xmlns:a16="http://schemas.microsoft.com/office/drawing/2014/main" id="{E7BAE8D4-7A7D-C075-592E-F12C6D8D4C90}"/>
              </a:ext>
            </a:extLst>
          </p:cNvPr>
          <p:cNvPicPr>
            <a:picLocks noChangeAspect="1"/>
          </p:cNvPicPr>
          <p:nvPr/>
        </p:nvPicPr>
        <p:blipFill>
          <a:blip r:embed="rId2"/>
          <a:stretch>
            <a:fillRect/>
          </a:stretch>
        </p:blipFill>
        <p:spPr>
          <a:xfrm>
            <a:off x="9530498" y="2716752"/>
            <a:ext cx="1186989" cy="1186989"/>
          </a:xfrm>
          <a:prstGeom prst="rect">
            <a:avLst/>
          </a:prstGeom>
        </p:spPr>
      </p:pic>
      <p:pic>
        <p:nvPicPr>
          <p:cNvPr id="8" name="Picture 7">
            <a:extLst>
              <a:ext uri="{FF2B5EF4-FFF2-40B4-BE49-F238E27FC236}">
                <a16:creationId xmlns:a16="http://schemas.microsoft.com/office/drawing/2014/main" id="{F52393FA-A27F-D359-D377-3E85F7FF65A5}"/>
              </a:ext>
            </a:extLst>
          </p:cNvPr>
          <p:cNvPicPr>
            <a:picLocks noChangeAspect="1"/>
          </p:cNvPicPr>
          <p:nvPr/>
        </p:nvPicPr>
        <p:blipFill>
          <a:blip r:embed="rId3"/>
          <a:stretch>
            <a:fillRect/>
          </a:stretch>
        </p:blipFill>
        <p:spPr>
          <a:xfrm>
            <a:off x="2429899" y="3516198"/>
            <a:ext cx="6921489" cy="2359670"/>
          </a:xfrm>
          <a:prstGeom prst="rect">
            <a:avLst/>
          </a:prstGeom>
        </p:spPr>
      </p:pic>
      <p:sp>
        <p:nvSpPr>
          <p:cNvPr id="9" name="Rectangle 8">
            <a:extLst>
              <a:ext uri="{FF2B5EF4-FFF2-40B4-BE49-F238E27FC236}">
                <a16:creationId xmlns:a16="http://schemas.microsoft.com/office/drawing/2014/main" id="{E4C03961-1519-F551-1D3E-6159281F9FE8}"/>
              </a:ext>
            </a:extLst>
          </p:cNvPr>
          <p:cNvSpPr/>
          <p:nvPr/>
        </p:nvSpPr>
        <p:spPr>
          <a:xfrm>
            <a:off x="2429899" y="3903741"/>
            <a:ext cx="6054225" cy="196919"/>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8F429024-F4F7-B6D0-D488-2364E3E29C07}"/>
              </a:ext>
            </a:extLst>
          </p:cNvPr>
          <p:cNvPicPr>
            <a:picLocks noChangeAspect="1"/>
          </p:cNvPicPr>
          <p:nvPr/>
        </p:nvPicPr>
        <p:blipFill>
          <a:blip r:embed="rId4"/>
          <a:stretch>
            <a:fillRect/>
          </a:stretch>
        </p:blipFill>
        <p:spPr>
          <a:xfrm>
            <a:off x="2429899" y="4278528"/>
            <a:ext cx="6054225" cy="406594"/>
          </a:xfrm>
          <a:prstGeom prst="rect">
            <a:avLst/>
          </a:prstGeom>
        </p:spPr>
      </p:pic>
    </p:spTree>
    <p:extLst>
      <p:ext uri="{BB962C8B-B14F-4D97-AF65-F5344CB8AC3E}">
        <p14:creationId xmlns:p14="http://schemas.microsoft.com/office/powerpoint/2010/main" val="2456863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2D1F8D-0FE1-CF08-9B7F-C58BB928010A}"/>
              </a:ext>
            </a:extLst>
          </p:cNvPr>
          <p:cNvSpPr>
            <a:spLocks noGrp="1"/>
          </p:cNvSpPr>
          <p:nvPr>
            <p:ph type="title"/>
          </p:nvPr>
        </p:nvSpPr>
        <p:spPr/>
        <p:txBody>
          <a:bodyPr/>
          <a:lstStyle/>
          <a:p>
            <a:r>
              <a:rPr lang="ro-RO" dirty="0"/>
              <a:t>Simulări</a:t>
            </a:r>
            <a:endParaRPr lang="en-US" dirty="0"/>
          </a:p>
        </p:txBody>
      </p:sp>
      <p:pic>
        <p:nvPicPr>
          <p:cNvPr id="5" name="Content Placeholder 4">
            <a:extLst>
              <a:ext uri="{FF2B5EF4-FFF2-40B4-BE49-F238E27FC236}">
                <a16:creationId xmlns:a16="http://schemas.microsoft.com/office/drawing/2014/main" id="{A0FA4FB5-FD26-7FD9-3E94-68B8C1552F7D}"/>
              </a:ext>
            </a:extLst>
          </p:cNvPr>
          <p:cNvPicPr>
            <a:picLocks noGrp="1" noChangeAspect="1"/>
          </p:cNvPicPr>
          <p:nvPr>
            <p:ph idx="1"/>
          </p:nvPr>
        </p:nvPicPr>
        <p:blipFill>
          <a:blip r:embed="rId2"/>
          <a:stretch>
            <a:fillRect/>
          </a:stretch>
        </p:blipFill>
        <p:spPr>
          <a:xfrm>
            <a:off x="2607665" y="2557463"/>
            <a:ext cx="6976669" cy="3317875"/>
          </a:xfrm>
          <a:prstGeom prst="rect">
            <a:avLst/>
          </a:prstGeom>
        </p:spPr>
      </p:pic>
    </p:spTree>
    <p:extLst>
      <p:ext uri="{BB962C8B-B14F-4D97-AF65-F5344CB8AC3E}">
        <p14:creationId xmlns:p14="http://schemas.microsoft.com/office/powerpoint/2010/main" val="4182035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8D7EFF-820F-C57A-9AE3-962F0946D31A}"/>
              </a:ext>
            </a:extLst>
          </p:cNvPr>
          <p:cNvSpPr>
            <a:spLocks noGrp="1"/>
          </p:cNvSpPr>
          <p:nvPr>
            <p:ph type="title"/>
          </p:nvPr>
        </p:nvSpPr>
        <p:spPr/>
        <p:txBody>
          <a:bodyPr/>
          <a:lstStyle/>
          <a:p>
            <a:r>
              <a:rPr lang="ro-RO" dirty="0"/>
              <a:t>Simulări</a:t>
            </a:r>
            <a:endParaRPr lang="en-US" dirty="0"/>
          </a:p>
        </p:txBody>
      </p:sp>
      <p:pic>
        <p:nvPicPr>
          <p:cNvPr id="5" name="Content Placeholder 4">
            <a:extLst>
              <a:ext uri="{FF2B5EF4-FFF2-40B4-BE49-F238E27FC236}">
                <a16:creationId xmlns:a16="http://schemas.microsoft.com/office/drawing/2014/main" id="{27CD1887-7185-B9DF-78C9-6E1CA08B76D6}"/>
              </a:ext>
            </a:extLst>
          </p:cNvPr>
          <p:cNvPicPr>
            <a:picLocks noGrp="1" noChangeAspect="1"/>
          </p:cNvPicPr>
          <p:nvPr>
            <p:ph idx="1"/>
          </p:nvPr>
        </p:nvPicPr>
        <p:blipFill>
          <a:blip r:embed="rId2"/>
          <a:stretch>
            <a:fillRect/>
          </a:stretch>
        </p:blipFill>
        <p:spPr>
          <a:xfrm>
            <a:off x="2343828" y="2557993"/>
            <a:ext cx="7504344" cy="3317875"/>
          </a:xfrm>
          <a:prstGeom prst="rect">
            <a:avLst/>
          </a:prstGeom>
        </p:spPr>
      </p:pic>
    </p:spTree>
    <p:extLst>
      <p:ext uri="{BB962C8B-B14F-4D97-AF65-F5344CB8AC3E}">
        <p14:creationId xmlns:p14="http://schemas.microsoft.com/office/powerpoint/2010/main" val="34273064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B1DA50-D5AD-8C9E-9BCD-9F6FC3CEFA22}"/>
              </a:ext>
            </a:extLst>
          </p:cNvPr>
          <p:cNvSpPr>
            <a:spLocks noGrp="1"/>
          </p:cNvSpPr>
          <p:nvPr>
            <p:ph type="title"/>
          </p:nvPr>
        </p:nvSpPr>
        <p:spPr/>
        <p:txBody>
          <a:bodyPr/>
          <a:lstStyle/>
          <a:p>
            <a:r>
              <a:rPr lang="ro-RO" dirty="0"/>
              <a:t>Riplu tensiunea de ieșire	</a:t>
            </a:r>
            <a:endParaRPr lang="en-US" dirty="0"/>
          </a:p>
        </p:txBody>
      </p:sp>
      <p:pic>
        <p:nvPicPr>
          <p:cNvPr id="5" name="Content Placeholder 4">
            <a:extLst>
              <a:ext uri="{FF2B5EF4-FFF2-40B4-BE49-F238E27FC236}">
                <a16:creationId xmlns:a16="http://schemas.microsoft.com/office/drawing/2014/main" id="{F32A9486-D1A9-3DB3-C016-C7A759D8D0A4}"/>
              </a:ext>
            </a:extLst>
          </p:cNvPr>
          <p:cNvPicPr>
            <a:picLocks noGrp="1" noChangeAspect="1"/>
          </p:cNvPicPr>
          <p:nvPr>
            <p:ph idx="1"/>
          </p:nvPr>
        </p:nvPicPr>
        <p:blipFill>
          <a:blip r:embed="rId2"/>
          <a:stretch>
            <a:fillRect/>
          </a:stretch>
        </p:blipFill>
        <p:spPr>
          <a:xfrm>
            <a:off x="2334433" y="2557463"/>
            <a:ext cx="7523134" cy="3317875"/>
          </a:xfrm>
          <a:prstGeom prst="rect">
            <a:avLst/>
          </a:prstGeom>
        </p:spPr>
      </p:pic>
    </p:spTree>
    <p:extLst>
      <p:ext uri="{BB962C8B-B14F-4D97-AF65-F5344CB8AC3E}">
        <p14:creationId xmlns:p14="http://schemas.microsoft.com/office/powerpoint/2010/main" val="11953936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ACD10D-F008-97C8-53A4-CE20472027B1}"/>
              </a:ext>
            </a:extLst>
          </p:cNvPr>
          <p:cNvSpPr>
            <a:spLocks noGrp="1"/>
          </p:cNvSpPr>
          <p:nvPr>
            <p:ph type="title"/>
          </p:nvPr>
        </p:nvSpPr>
        <p:spPr/>
        <p:txBody>
          <a:bodyPr/>
          <a:lstStyle/>
          <a:p>
            <a:r>
              <a:rPr lang="ro-RO" dirty="0"/>
              <a:t>Riplu curent bobină</a:t>
            </a:r>
            <a:endParaRPr lang="en-US" dirty="0"/>
          </a:p>
        </p:txBody>
      </p:sp>
      <p:pic>
        <p:nvPicPr>
          <p:cNvPr id="5" name="Content Placeholder 4">
            <a:extLst>
              <a:ext uri="{FF2B5EF4-FFF2-40B4-BE49-F238E27FC236}">
                <a16:creationId xmlns:a16="http://schemas.microsoft.com/office/drawing/2014/main" id="{DDB4920F-1552-6634-D59E-4A96AF9C9B3F}"/>
              </a:ext>
            </a:extLst>
          </p:cNvPr>
          <p:cNvPicPr>
            <a:picLocks noGrp="1" noChangeAspect="1"/>
          </p:cNvPicPr>
          <p:nvPr>
            <p:ph idx="1"/>
          </p:nvPr>
        </p:nvPicPr>
        <p:blipFill>
          <a:blip r:embed="rId2"/>
          <a:stretch>
            <a:fillRect/>
          </a:stretch>
        </p:blipFill>
        <p:spPr>
          <a:xfrm>
            <a:off x="2352656" y="2557463"/>
            <a:ext cx="7486687" cy="3317875"/>
          </a:xfrm>
          <a:prstGeom prst="rect">
            <a:avLst/>
          </a:prstGeom>
        </p:spPr>
      </p:pic>
    </p:spTree>
    <p:extLst>
      <p:ext uri="{BB962C8B-B14F-4D97-AF65-F5344CB8AC3E}">
        <p14:creationId xmlns:p14="http://schemas.microsoft.com/office/powerpoint/2010/main" val="22082313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4FD59C-6654-AB48-6BF0-A2F2D0B79928}"/>
              </a:ext>
            </a:extLst>
          </p:cNvPr>
          <p:cNvSpPr>
            <a:spLocks noGrp="1"/>
          </p:cNvSpPr>
          <p:nvPr>
            <p:ph type="title"/>
          </p:nvPr>
        </p:nvSpPr>
        <p:spPr/>
        <p:txBody>
          <a:bodyPr/>
          <a:lstStyle/>
          <a:p>
            <a:r>
              <a:rPr lang="ro-RO" dirty="0"/>
              <a:t>Curent de iesire</a:t>
            </a:r>
            <a:endParaRPr lang="en-US" dirty="0"/>
          </a:p>
        </p:txBody>
      </p:sp>
      <p:pic>
        <p:nvPicPr>
          <p:cNvPr id="5" name="Content Placeholder 4">
            <a:extLst>
              <a:ext uri="{FF2B5EF4-FFF2-40B4-BE49-F238E27FC236}">
                <a16:creationId xmlns:a16="http://schemas.microsoft.com/office/drawing/2014/main" id="{EDDF7D3B-055B-1B43-D8FE-436B62B64A6E}"/>
              </a:ext>
            </a:extLst>
          </p:cNvPr>
          <p:cNvPicPr>
            <a:picLocks noGrp="1" noChangeAspect="1"/>
          </p:cNvPicPr>
          <p:nvPr>
            <p:ph idx="1"/>
          </p:nvPr>
        </p:nvPicPr>
        <p:blipFill>
          <a:blip r:embed="rId2"/>
          <a:stretch>
            <a:fillRect/>
          </a:stretch>
        </p:blipFill>
        <p:spPr>
          <a:xfrm>
            <a:off x="2343828" y="2557463"/>
            <a:ext cx="7504344" cy="3317875"/>
          </a:xfrm>
          <a:prstGeom prst="rect">
            <a:avLst/>
          </a:prstGeom>
        </p:spPr>
      </p:pic>
    </p:spTree>
    <p:extLst>
      <p:ext uri="{BB962C8B-B14F-4D97-AF65-F5344CB8AC3E}">
        <p14:creationId xmlns:p14="http://schemas.microsoft.com/office/powerpoint/2010/main" val="5241115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C18240-D83D-DFB9-149C-028AB8FF7820}"/>
              </a:ext>
            </a:extLst>
          </p:cNvPr>
          <p:cNvSpPr>
            <a:spLocks noGrp="1"/>
          </p:cNvSpPr>
          <p:nvPr>
            <p:ph type="title"/>
          </p:nvPr>
        </p:nvSpPr>
        <p:spPr/>
        <p:txBody>
          <a:bodyPr/>
          <a:lstStyle/>
          <a:p>
            <a:r>
              <a:rPr lang="ro-RO" dirty="0"/>
              <a:t>Ieșirea conectată la tot circuitul</a:t>
            </a:r>
            <a:endParaRPr lang="en-US" dirty="0"/>
          </a:p>
        </p:txBody>
      </p:sp>
      <p:pic>
        <p:nvPicPr>
          <p:cNvPr id="5" name="Content Placeholder 4">
            <a:extLst>
              <a:ext uri="{FF2B5EF4-FFF2-40B4-BE49-F238E27FC236}">
                <a16:creationId xmlns:a16="http://schemas.microsoft.com/office/drawing/2014/main" id="{CA0924E6-9D7F-516A-BD1B-51262D1E888E}"/>
              </a:ext>
            </a:extLst>
          </p:cNvPr>
          <p:cNvPicPr>
            <a:picLocks noGrp="1" noChangeAspect="1"/>
          </p:cNvPicPr>
          <p:nvPr>
            <p:ph idx="1"/>
          </p:nvPr>
        </p:nvPicPr>
        <p:blipFill>
          <a:blip r:embed="rId2"/>
          <a:stretch>
            <a:fillRect/>
          </a:stretch>
        </p:blipFill>
        <p:spPr>
          <a:xfrm>
            <a:off x="2508805" y="2557993"/>
            <a:ext cx="7174390" cy="3317875"/>
          </a:xfrm>
          <a:prstGeom prst="rect">
            <a:avLst/>
          </a:prstGeom>
        </p:spPr>
      </p:pic>
    </p:spTree>
    <p:extLst>
      <p:ext uri="{BB962C8B-B14F-4D97-AF65-F5344CB8AC3E}">
        <p14:creationId xmlns:p14="http://schemas.microsoft.com/office/powerpoint/2010/main" val="2156677025"/>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docProps/app.xml><?xml version="1.0" encoding="utf-8"?>
<Properties xmlns="http://schemas.openxmlformats.org/officeDocument/2006/extended-properties" xmlns:vt="http://schemas.openxmlformats.org/officeDocument/2006/docPropsVTypes">
  <Template>Organic</Template>
  <TotalTime>88</TotalTime>
  <Words>195</Words>
  <Application>Microsoft Office PowerPoint</Application>
  <PresentationFormat>Widescreen</PresentationFormat>
  <Paragraphs>26</Paragraphs>
  <Slides>12</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Garamond</vt:lpstr>
      <vt:lpstr>Organic</vt:lpstr>
      <vt:lpstr> Proiect surse </vt:lpstr>
      <vt:lpstr>Convertorul Buck</vt:lpstr>
      <vt:lpstr>Cerințele de proiectare </vt:lpstr>
      <vt:lpstr>Fișa de calcul</vt:lpstr>
      <vt:lpstr>Alegere componente</vt:lpstr>
      <vt:lpstr>Alegere componente</vt:lpstr>
      <vt:lpstr>Simulări</vt:lpstr>
      <vt:lpstr>Simulări</vt:lpstr>
      <vt:lpstr>Riplu tensiunea de ieșire </vt:lpstr>
      <vt:lpstr>Riplu curent bobină</vt:lpstr>
      <vt:lpstr>Curent de iesire</vt:lpstr>
      <vt:lpstr>Ieșirea conectată la tot circuitul</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Catalin Cornel Pop</dc:creator>
  <cp:lastModifiedBy>Catalin Cornel Pop</cp:lastModifiedBy>
  <cp:revision>3</cp:revision>
  <dcterms:created xsi:type="dcterms:W3CDTF">2025-12-13T09:08:37Z</dcterms:created>
  <dcterms:modified xsi:type="dcterms:W3CDTF">2025-12-13T10:37:19Z</dcterms:modified>
</cp:coreProperties>
</file>